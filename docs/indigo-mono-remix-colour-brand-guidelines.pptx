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c1887bd044de4" /><Relationship Type="http://schemas.openxmlformats.org/officeDocument/2006/relationships/extended-properties" Target="/docProps/app.xml" Id="Rd1d72a54c9d14e16" /><Relationship Type="http://schemas.openxmlformats.org/officeDocument/2006/relationships/officeDocument" Target="/ppt/presentation.xml" Id="R5a12ba3098d04b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a3984f41844de7"/>
  </p:sldMasterIdLst>
  <p:notesMasterIdLst>
    <p:notesMasterId xmlns:r="http://schemas.openxmlformats.org/officeDocument/2006/relationships" r:id="Rabc5f91e90bf4953"/>
  </p:notesMasterIdLst>
  <p:sldIdLst>
    <p:sldId xmlns:r="http://schemas.openxmlformats.org/officeDocument/2006/relationships" id="256" r:id="Ra060e54e81c14ac5"/>
    <p:sldId xmlns:r="http://schemas.openxmlformats.org/officeDocument/2006/relationships" id="257" r:id="R83b3d84074ec43e0"/>
    <p:sldId xmlns:r="http://schemas.openxmlformats.org/officeDocument/2006/relationships" id="258" r:id="R3b4eebfbd5984506"/>
    <p:sldId xmlns:r="http://schemas.openxmlformats.org/officeDocument/2006/relationships" id="259" r:id="R59e156fed05c4b21"/>
    <p:sldId xmlns:r="http://schemas.openxmlformats.org/officeDocument/2006/relationships" id="260" r:id="R78c4925a964a417a"/>
    <p:sldId xmlns:r="http://schemas.openxmlformats.org/officeDocument/2006/relationships" id="261" r:id="R3b0a7c07e3c0462e"/>
    <p:sldId xmlns:r="http://schemas.openxmlformats.org/officeDocument/2006/relationships" id="262" r:id="R891659522fac43cc"/>
    <p:sldId xmlns:r="http://schemas.openxmlformats.org/officeDocument/2006/relationships" id="263" r:id="R08c6b07a40674311"/>
    <p:sldId xmlns:r="http://schemas.openxmlformats.org/officeDocument/2006/relationships" id="264" r:id="R6131a2eb9ab744fb"/>
    <p:sldId xmlns:r="http://schemas.openxmlformats.org/officeDocument/2006/relationships" id="265" r:id="Rca9fad1ef76c49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fcdac4de95480e" /><Relationship Type="http://schemas.openxmlformats.org/officeDocument/2006/relationships/slideMaster" Target="/ppt/slideMasters/slideMaster1.xml" Id="R3fa3984f41844de7" /><Relationship Type="http://schemas.openxmlformats.org/officeDocument/2006/relationships/notesMaster" Target="/ppt/notesMasters/notesMaster1.xml" Id="Rabc5f91e90bf4953" /><Relationship Type="http://schemas.openxmlformats.org/officeDocument/2006/relationships/presProps" Target="/ppt/presProps.xml" Id="Rfdea53c179554062" /><Relationship Type="http://schemas.openxmlformats.org/officeDocument/2006/relationships/tableStyles" Target="/ppt/tableStyles.xml" Id="R662fd125a4024173" /><Relationship Type="http://schemas.openxmlformats.org/officeDocument/2006/relationships/slide" Target="/ppt/slides/slide1.xml" Id="Ra060e54e81c14ac5" /><Relationship Type="http://schemas.openxmlformats.org/officeDocument/2006/relationships/slide" Target="/ppt/slides/slide2.xml" Id="R83b3d84074ec43e0" /><Relationship Type="http://schemas.openxmlformats.org/officeDocument/2006/relationships/slide" Target="/ppt/slides/slide3.xml" Id="R3b4eebfbd5984506" /><Relationship Type="http://schemas.openxmlformats.org/officeDocument/2006/relationships/slide" Target="/ppt/slides/slide4.xml" Id="R59e156fed05c4b21" /><Relationship Type="http://schemas.openxmlformats.org/officeDocument/2006/relationships/slide" Target="/ppt/slides/slide5.xml" Id="R78c4925a964a417a" /><Relationship Type="http://schemas.openxmlformats.org/officeDocument/2006/relationships/slide" Target="/ppt/slides/slide6.xml" Id="R3b0a7c07e3c0462e" /><Relationship Type="http://schemas.openxmlformats.org/officeDocument/2006/relationships/slide" Target="/ppt/slides/slide7.xml" Id="R891659522fac43cc" /><Relationship Type="http://schemas.openxmlformats.org/officeDocument/2006/relationships/slide" Target="/ppt/slides/slide8.xml" Id="R08c6b07a40674311" /><Relationship Type="http://schemas.openxmlformats.org/officeDocument/2006/relationships/slide" Target="/ppt/slides/slide9.xml" Id="R6131a2eb9ab744fb" /><Relationship Type="http://schemas.openxmlformats.org/officeDocument/2006/relationships/slide" Target="/ppt/slides/slide10.xml" Id="Rca9fad1ef76c49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19de57c92741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1026d3a9044620" /><Relationship Type="http://schemas.openxmlformats.org/officeDocument/2006/relationships/notesMaster" Target="/ppt/notesMasters/notesMaster1.xml" Id="R287d1556cc6648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669fa26f774254" /><Relationship Type="http://schemas.openxmlformats.org/officeDocument/2006/relationships/notesMaster" Target="/ppt/notesMasters/notesMaster1.xml" Id="R6598bc4c00734e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34fcca8330481b" /><Relationship Type="http://schemas.openxmlformats.org/officeDocument/2006/relationships/notesMaster" Target="/ppt/notesMasters/notesMaster1.xml" Id="R0d400c67d13942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0a84adcdaa4c27" /><Relationship Type="http://schemas.openxmlformats.org/officeDocument/2006/relationships/notesMaster" Target="/ppt/notesMasters/notesMaster1.xml" Id="R0f1e6038c8144c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722a521d744bfa" /><Relationship Type="http://schemas.openxmlformats.org/officeDocument/2006/relationships/notesMaster" Target="/ppt/notesMasters/notesMaster1.xml" Id="Rd886449109b746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205b5bb9ca4560" /><Relationship Type="http://schemas.openxmlformats.org/officeDocument/2006/relationships/notesMaster" Target="/ppt/notesMasters/notesMaster1.xml" Id="Rfea688bb541342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9b470f1cc54df2" /><Relationship Type="http://schemas.openxmlformats.org/officeDocument/2006/relationships/notesMaster" Target="/ppt/notesMasters/notesMaster1.xml" Id="R8fc2a7190c764c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2259abe4ef424b" /><Relationship Type="http://schemas.openxmlformats.org/officeDocument/2006/relationships/notesMaster" Target="/ppt/notesMasters/notesMaster1.xml" Id="Re703cfa062ac40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37a37c8eda42c2" /><Relationship Type="http://schemas.openxmlformats.org/officeDocument/2006/relationships/notesMaster" Target="/ppt/notesMasters/notesMaster1.xml" Id="Rc4243ff9ef214f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f52ba3bd2f4444" /><Relationship Type="http://schemas.openxmlformats.org/officeDocument/2006/relationships/notesMaster" Target="/ppt/notesMasters/notesMaster1.xml" Id="R0511e88291014e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32773934f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95573d88e24ae8" /><Relationship Type="http://schemas.openxmlformats.org/officeDocument/2006/relationships/slideLayout" Target="/ppt/slideLayouts/slideLayout1.xml" Id="R33b24a399f62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b24a399f62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8a0da776044f5" /><Relationship Type="http://schemas.openxmlformats.org/officeDocument/2006/relationships/notesSlide" Target="/ppt/notesSlides/notesSlide1.xml" Id="R1b0daf5b151240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c743f308a42e0" /><Relationship Type="http://schemas.openxmlformats.org/officeDocument/2006/relationships/notesSlide" Target="/ppt/notesSlides/notesSlide2.xml" Id="R890f265c0baf4e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8eead807648a2" /><Relationship Type="http://schemas.openxmlformats.org/officeDocument/2006/relationships/notesSlide" Target="/ppt/notesSlides/notesSlide3.xml" Id="R1aabcea39a804b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14ec0ad4f459f" /><Relationship Type="http://schemas.openxmlformats.org/officeDocument/2006/relationships/notesSlide" Target="/ppt/notesSlides/notesSlide4.xml" Id="R97fe5d73074d49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fe8e127d84bba" /><Relationship Type="http://schemas.openxmlformats.org/officeDocument/2006/relationships/notesSlide" Target="/ppt/notesSlides/notesSlide5.xml" Id="R73b3bb994b40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67001563c4128" /><Relationship Type="http://schemas.openxmlformats.org/officeDocument/2006/relationships/notesSlide" Target="/ppt/notesSlides/notesSlide6.xml" Id="Rf9b759605ab648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b18452bab490a" /><Relationship Type="http://schemas.openxmlformats.org/officeDocument/2006/relationships/notesSlide" Target="/ppt/notesSlides/notesSlide7.xml" Id="Rc43bdc394a8f45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32c1774a24d01" /><Relationship Type="http://schemas.openxmlformats.org/officeDocument/2006/relationships/notesSlide" Target="/ppt/notesSlides/notesSlide8.xml" Id="R035fbbc7b34046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351b60e334e09" /><Relationship Type="http://schemas.openxmlformats.org/officeDocument/2006/relationships/notesSlide" Target="/ppt/notesSlides/notesSlide9.xml" Id="R675c231a90e446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03a8f60e84fc2" /><Relationship Type="http://schemas.openxmlformats.org/officeDocument/2006/relationships/notesSlide" Target="/ppt/notesSlides/notesSlide10.xml" Id="R0d5119eeb0e6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77D07-BD7C-4706-A3E1-81379FBF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76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0BDDF-91BB-4379-8B46-9A5984D6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53CE8-ACCB-47FB-AF4A-28F1210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INDIGO MONO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24274-6D24-4ED4-9B35-0718C712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0FD94-F71F-49FC-855B-13B7225F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Colour brand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395C9-B8AD-4F12-9447-C3D65F7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monochrome system with one unmistakable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576D9-BD30-47AD-BFD5-99D449BE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94A3B8"/>
                </a:solidFill>
                <a:latin typeface="Courier New"/>
                <a:ea typeface="Courier New"/>
                <a:cs typeface="Courier New"/>
              </a:rPr>
              <a:t>VERSION 1.0  /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2CBA0-11B3-4C17-A9E2-125ECDCC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04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CORE TRIAD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B2469-3F7E-49FF-974D-1D8429B8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1285875"/>
            <a:ext cx="2571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07896-AB77-4B7A-8AF7-67E1684E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04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FF302-97E6-42A7-8630-41701669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1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CBD5E1"/>
                </a:solidFill>
                <a:latin typeface="Courier New"/>
                <a:ea typeface="Courier New"/>
                <a:cs typeface="Courier New"/>
              </a:rPr>
              <a:t>#020817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4ADA0-D670-45A6-9A56-7632ED5C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2724150"/>
            <a:ext cx="2571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500F3-20E4-45BF-A750-C26D3C4C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432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61DBA-574F-41E4-A29D-21C44B3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575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#00AA3E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92019-DD51-4396-9AB1-F8503774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25" y="4162425"/>
            <a:ext cx="2571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87A58-F98A-46EB-A5AF-3466FB49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81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EED85-79D5-40AF-A657-4C73544E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95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475569"/>
                </a:solidFill>
                <a:latin typeface="Courier New"/>
                <a:ea typeface="Courier New"/>
                <a:cs typeface="Courier New"/>
              </a:rPr>
              <a:t>#FFFFFF</a:t>
            </a:r>
          </a:p>
        </p:txBody>
      </p:sp>
    </p:spTree>
    <p:extLst>
      <p:ext uri="{BB962C8B-B14F-4D97-AF65-F5344CB8AC3E}">
        <p14:creationId xmlns:p14="http://schemas.microsoft.com/office/powerpoint/2010/main" val="1524350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22CB3-166F-4C86-BB32-EE8A39B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B33"/>
                </a:solidFill>
                <a:latin typeface="Arial"/>
                <a:ea typeface="Arial"/>
                <a:cs typeface="Arial"/>
              </a:rPr>
              <a:t>THE ORGANISING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630CA-38BD-4960-BC5E-B18CA81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Monochrome carries the message.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37AB3-115A-4171-8285-146364BB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Green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198D2-22DC-4712-82CA-FE302C59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7145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marks the signal.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D1413-FEB7-4E55-B873-0DC12542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144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675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F8196-3798-435C-A526-61164328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9203D-FCAC-4E39-9938-C285CE0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276600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6CA37-0778-4AD0-96BB-19C98D0F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QUIET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C8A7F-7D03-449C-8E2E-22E2D42D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Paper, ink and graphite do most of the work. The system should feel calm before it feels branded.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94723-28E7-43E8-AEA3-BBA93DB8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276600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05D7A-761A-46D7-924A-32D07072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0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ACTIVE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6B445-F995-4BDD-B229-B98461F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4812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Green identifies action, progress, focus and positive movement. It is never decorative filler.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00D3F-EF4F-4876-B0C4-E8E17A6B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3276600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5902E-CB3B-43B3-AA96-A867628C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0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MEASURED CONTRAST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02ECD-4B9D-48AB-9C9A-75615AD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4812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Light and dark modes share one hierarchy: strong text, restrained surfaces and crisp boundaries.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68CF3-E4A7-42F3-8EFA-AD604172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The signature comes from restraint—not from adding more colour.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94ABA-2362-4F0C-BE9A-CACE7A52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INDIGO MONO REMIX  •  COLOUR GUIDELINES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84B99-5715-4F11-91B0-E0A1B4AB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1856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6DC31-C0E3-40C3-A7C8-6F1E6A16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CORE PALETTE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FF163-74F2-4EB7-B92C-E195419F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colours define the brand.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FA1C1-285B-4406-8798-1247F53C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Everything else supports hierarchy, state or accessibility.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A2C80-04AC-4C78-9169-5ADDF15D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90750"/>
            <a:ext cx="33528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BFFDB-4531-4B2D-BDCD-B47951F7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94AB0-C3EF-4686-ABC1-C02D0911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#020817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EA0A3-7E23-48BC-8845-E79985FB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Brand mark, display type, primary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2FB0C-7536-46BF-BA4A-8D90FC6A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2190750"/>
            <a:ext cx="33528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5F517-7AA5-4E7B-A8A4-4C3F7FDF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2ED3B-5958-4CDC-B0EB-090675F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290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#00AA3E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50EBF-B19A-4730-B318-E1C0D7C2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3390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20817"/>
                </a:solidFill>
                <a:latin typeface="Arial"/>
                <a:ea typeface="Arial"/>
                <a:cs typeface="Arial"/>
              </a:rPr>
              <a:t>Action, focus, progress, selected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C8373-4BD3-48DF-8AA6-EBE772E3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190750"/>
            <a:ext cx="33528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E4775-7F36-4A19-809D-9851DB9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7A950-6E11-4D05-B80A-AABF7430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290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#FFFFFF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3643C-6C8F-46D9-B326-9C4FEFB9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3390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Primary light field and clean breathing room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194CD-6C96-4B5D-945D-5CE6D666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Signal at full strength. Do not tint it into a decorative pastel family.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4779A-9A2A-4A2A-9126-3DCE8680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INDIGO MONO REMIX  •  COLOUR GUIDELINES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A02E6-077F-4158-A27B-80062097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94A3B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0081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854845-8120-4BA6-A51D-47CE151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B33"/>
                </a:solidFill>
                <a:latin typeface="Arial"/>
                <a:ea typeface="Arial"/>
                <a:cs typeface="Arial"/>
              </a:rPr>
              <a:t>LIGHT MODE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2C735-2D3C-4418-9B2C-758D6270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Light mode is crisp, editorial and nearly colourless.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5EBD7-8D62-4EB1-AD18-7813519E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Green appears only where the eye needs a clear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947F8-CD08-42CF-8D7E-F6BC48C0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209800"/>
            <a:ext cx="1676400" cy="234315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B2A58-F382-4C78-8FC0-594B9784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CANVAS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A4EC8-C09E-49B7-944A-EF1B55E2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F0A0C-A768-4D4C-A78B-92AC790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#FFFFFF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39612-1C9F-49D7-A4F1-A42EE6F3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209800"/>
            <a:ext cx="1676400" cy="234315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EB57F-3EC8-4ABC-9709-071FD17A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812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86A51-38B8-4AD7-8AF5-798BA2C3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38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7D009-BC8D-4A81-883C-828B1C49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435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#020817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268AE-B5B7-48D5-A360-4CC4838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2209800"/>
            <a:ext cx="1676400" cy="234315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46BF3-D819-42C6-AC2C-C1B34694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E081D-AD0C-417A-AE86-F412D7F6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4CD6B-0C4D-449E-A2D5-7CA7146E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435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#0F172A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7E403-11FC-42E1-BC95-30C147F4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209800"/>
            <a:ext cx="1676400" cy="234315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70794-3DF4-4741-AC9F-3384A89A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SECONDARY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DB41F-FB0E-4001-B4B0-B8C6FED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MIST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26348-54CE-453F-9644-54AA47D5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#F1F5F9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03F8C-3966-4053-A057-2AF926C3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209800"/>
            <a:ext cx="1676400" cy="234315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3EF91-D612-499C-968A-D006CC67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B6D42-7A85-43E3-B96E-F8A222F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38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BORDER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94D0E-377D-460F-9474-4EF72A4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435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#E2E8F0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C78E7-8AE4-42BA-AADB-E1540948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2209800"/>
            <a:ext cx="1676400" cy="234315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54F21-7396-449F-81EA-F05827C3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E925E-1D29-4BB4-93AE-7A253B1B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38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C797C-4F31-414A-AAFD-A645929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435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#00AA3E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E545E5-0D1E-442A-8D55-F5110D39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Default order: Paper → Ink → Primary → Mist → Border → Signal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AEF30-ED55-47ED-BEF1-5595C279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INDIGO MONO REMIX  •  COLOUR GUIDELINES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F44A4-A539-476C-9B3A-4AFDD1A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3205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135CE-2AAA-49C5-93C9-FD916807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DARK MODE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1DCED-9C0D-4A16-B794-E61D66A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Dark mode builds depth with graphite.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EED35-DF22-4406-8E13-EC7AA52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Avoid pure black. Keep surfaces close in value; let edges and type create the hierarchy.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D8B85-1C3D-44E1-B42C-5B4B4EAC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907C-32BF-4FA0-8D2F-100C8D43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#0D0D0D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A5BD2-DC68-481F-8E72-16F37F37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The canvas. Avoid #000000 for large fields; graphite keeps the system dimensional.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0D1C5-E1BE-47FC-BAA6-2408DDA5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714875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D5FF9-8175-4062-B0DE-8F07875A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 remains the only chromatic interruption.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83F50-05CE-43DE-B03F-53D5903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1962150"/>
            <a:ext cx="56959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EB87C-5F0E-4315-B79B-4BE7C707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1F4FC-4215-420E-9467-610DA99B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#141414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94937-26FC-4995-A31F-2A8E3FD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619375"/>
            <a:ext cx="56959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31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BF9EE-6464-41C7-815F-777FAF2B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717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326F1-E2C4-4954-8A41-06A4C525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717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#313131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F558A-C963-4E78-B743-0CF38EB2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276600"/>
            <a:ext cx="56959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F0A9B-7417-4929-B401-E6FE0C95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34677-813E-4B8F-9EA0-5B363DF5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#1E293B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BB7B7-21B3-4695-BD10-A57DDA9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933825"/>
            <a:ext cx="56959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56250-432D-468C-8E27-B688804E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862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6D258-0058-419C-B41E-9C4BE72C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86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#F8FAFC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DBED4-DA94-4C3E-8A84-D3659B03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591050"/>
            <a:ext cx="56959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6F74D-44DA-4912-8C10-2516FB05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43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MUTED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C20D4-8E73-4BF8-842A-01285057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434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#94A3B8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B946A-A692-4214-AF53-F641E22F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5248275"/>
            <a:ext cx="56959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8307B-2C33-4851-A985-9AB1CC8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006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5CC142-B21D-4121-A751-458D25A9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006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#00AA3E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5D75BB-1BAD-435D-90AC-1291253C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INDIGO MONO REMIX  •  COLOUR GUIDELINES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4BC87-523F-408A-B1AE-9F4D49E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94A3B8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4336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1F841-B1D5-4968-99F3-8C978D09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B33"/>
                </a:solidFill>
                <a:latin typeface="Arial"/>
                <a:ea typeface="Arial"/>
                <a:cs typeface="Arial"/>
              </a:rPr>
              <a:t>COLOUR HIERARCHY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D71F5-B968-4F0D-BAEB-4D4546DD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Let neutrals dominate; green stays rare.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430DD-1A94-438C-9634-581A2BB4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directional ratio for interfaces, campaigns and data stories.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695F2-8AB7-436D-8D01-761E7040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324100"/>
            <a:ext cx="768096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E048C-D5F4-477D-BF75-0AAE7EC7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74142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7098E-9137-4312-A680-28B673EC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74142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298C9-AFC4-48FC-8C7A-8C318643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0560" y="2324100"/>
            <a:ext cx="219456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8C6CD-EC8D-48B6-9DCC-1916A787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910" y="2743200"/>
            <a:ext cx="19278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A7E94-F549-4DA3-B40F-1556E2DE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910" y="3295650"/>
            <a:ext cx="19278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E393A-7255-4F10-952A-BA7535FE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5120" y="2324100"/>
            <a:ext cx="877824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0A0E7-0925-4E16-8503-9F82E46E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470" y="2743200"/>
            <a:ext cx="61112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C5064-B5EE-4E64-9177-B780A175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220" y="3295650"/>
            <a:ext cx="80162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F27FE-4D55-4D12-9CC5-FDCCD1B6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2944" y="2324100"/>
            <a:ext cx="219456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91714-CA65-47AE-9F8C-688BC7FD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383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2% 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DB7B4-4D98-4B89-9926-A96E27FD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3C3E1-CC77-46E9-B9A5-FBFFB9A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Begin in monochrome.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090F4-E454-483B-9E30-C3E9DEFA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88F73-9DE3-493D-A3AD-BF0FB738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52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Build hierarchy with value.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87F01-36BE-48D4-80E2-8603A5EB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6A7F6-E709-4BD2-9396-1FE227FD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529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Add one green focus.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B3EF5-63AB-4EDF-87D0-0F0E5135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Treat the ratio as a visual discipline, not a rigid formula.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953B2-2AF5-40D6-AC94-65588370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INDIGO MONO REMIX  •  COLOUR GUIDELINES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BBECD-6F1D-44AB-B2DE-07EFD86B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270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05601-04D7-416E-9395-CC584886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ACCESSIBLE PAIRINGS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66814-1DF1-4F4F-9112-9FE02686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Contrast decides where Signal can speak.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F025A-D314-43C7-9359-CFF69B90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Normal text targets 4.5:1. Large display text and UI graphics target 3:1.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7DE5C-81F8-4099-AB62-95D10015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52650"/>
            <a:ext cx="25146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FABD6-FB19-4ACC-96F6-93149F61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7794-4187-4CFF-B5EE-845F06B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20.01:1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C0FB2-4C26-41CB-81AD-839F9E1C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INK ON PAPER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98FEC-A0E6-4ABA-BBBF-09AB0125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3D55D-1170-436D-B486-39AF3DEB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2152650"/>
            <a:ext cx="25146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D0D0D"/>
          </a:solidFill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AF956-0AD9-4682-9B7B-3DB0D2EA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21E89-3686-4BFE-897B-0A394FFA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18.58:1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4621E-163E-4527-820C-DDE035B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624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 ON GRAPHITE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573EF-0D00-45D3-9566-9CC423A2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C7B7A-6A14-4DBB-ABFE-D834413B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152650"/>
            <a:ext cx="25146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D0D0D"/>
          </a:solidFill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95108-8A7B-4090-B88A-95B900C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C9410-EA56-4561-8973-43EC9627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6.31:1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D4415-C66D-43CF-9C43-6521E702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SIGNAL ON GRAPHITE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59B03-7338-4BBE-A362-6251204C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78634-0674-4268-A77C-41D96F3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2152650"/>
            <a:ext cx="25146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ACC2F-9D9D-4D2A-A87D-42238BC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7BFF8-42E1-47A3-9712-EA74ABB4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480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6.50:1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949E0-5CCA-4520-A0F5-1BC0519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624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INK ON 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864A2-641D-4E59-996F-1EA40B9E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108C4-B036-4612-8F16-8038A74A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08A0A-FB90-499F-8CF6-F0E421B7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4EE4D-C4A1-4711-A4AB-E7351BB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244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 on Paper — 3.08:1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F73605-5249-4C36-A982-A3AC55F0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Use only for large display accents or UI graphics. Never use white on Signal for normal-size text.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8567D-BE47-4A21-A1CC-C980C6A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INDIGO MONO REMIX  •  COLOUR GUIDELINES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BA57A-FA54-4E26-9EE7-635F859B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94A3B8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7528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44EFC8-90D2-4C7A-91C0-D599CB3D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B33"/>
                </a:solidFill>
                <a:latin typeface="Arial"/>
                <a:ea typeface="Arial"/>
                <a:cs typeface="Arial"/>
              </a:rPr>
              <a:t>APPLICATION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78287-3D8E-44CF-BC9B-EFE2898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Green works best as a single moment.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07CE9-D05F-4991-B640-1EFCCE1E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66CEF-F0CC-4261-B442-137A9D88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BD5F9-583E-458C-8605-681C71D9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Research can 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BB6D8-68B9-4908-936D-2EAA7109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622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reused.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B252A-AE9A-4642-817F-1EB9D3DB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Use Signal for the phrase, action or data point that must be found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14CE3-1062-45C6-BE48-334357ED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62450"/>
            <a:ext cx="2143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8ABCE-E070-4CA5-AE19-AC57C950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action  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15961-3B28-44B1-9626-E5578D6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19700"/>
            <a:ext cx="4000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EA65D-0683-4F4C-8534-468B6B2E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19700"/>
            <a:ext cx="336042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85A30-5CD0-4A8B-8AA5-9953F271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429250"/>
            <a:ext cx="4000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C5736-13A3-4861-82AD-6F1FF8A5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429250"/>
            <a:ext cx="256032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DC3BB-DB87-44FA-8AE4-86A9DE5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4000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2292F-BA1F-4905-ACB5-E9051FCF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368046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E9DA6-C272-4B93-9B0B-C09FFD15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848350"/>
            <a:ext cx="4000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D53E3-33B7-4794-8D34-A7AC5F08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848350"/>
            <a:ext cx="192024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63C4E-C765-44DE-810F-6E621AB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9413C-5AD4-4D31-BEC3-EF15B54F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When everything signals, nothing leads.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7F8AB-F400-4E3A-BFC4-54AAEDB6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3337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30120-B524-4975-A3E9-718EEB27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D6C9C-044A-455B-B36A-0FF87CC7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3333750"/>
            <a:ext cx="272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6A416-39F8-4839-BA81-2CBDB323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42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CE190-FAE7-4290-9D90-E348D67A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1148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7DAFE-B276-4706-BEEE-C31D542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BANNER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4C8E9-F70D-49C2-AB9C-430EB599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895850"/>
            <a:ext cx="2171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E968A-3BB4-4221-B8C4-65BD537F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BUTTON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53FED-4C3E-47B9-9D37-1F4E892D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4895850"/>
            <a:ext cx="2362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39DE3-E60F-4C76-9DF8-CA7075FC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863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HIGHLIGHT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BFFAE0-F4BA-4668-B4E4-6224872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150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Avoid green backgrounds, repeated green labels and multi-focus screens.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DFAFB-ACE3-48B8-8582-725CC9E3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INDIGO MONO REMIX  •  COLOUR GUIDELINES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3CC9B9-AD83-4A7D-83B6-D76ADC81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6546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E10B363-5301-4D64-8A75-8395A971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B33"/>
                </a:solidFill>
                <a:latin typeface="Arial"/>
                <a:ea typeface="Arial"/>
                <a:cs typeface="Arial"/>
              </a:rPr>
              <a:t>DESIGN-TO-CODE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FD97B-C6FF-4103-93BE-CD50CC7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20817"/>
                </a:solidFill>
                <a:latin typeface="Arial"/>
                <a:ea typeface="Arial"/>
                <a:cs typeface="Arial"/>
              </a:rPr>
              <a:t>Use semantic roles—not remembered hex values.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B92D5-FBCE-42B4-9F5E-F8739F58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same role can change value across modes while preserving hierarchy.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E0540-EFB8-4002-A981-ED995F3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33600"/>
            <a:ext cx="53721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9EB07-43C9-4B60-82AB-F8CBE1E3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0A56A-468B-422B-97AA-E22CA52E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BFF4D-7B77-4CF1-BC32-2B18F414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7A7CC-0AC6-4582-A30E-7FB926DF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B7C96-4AFD-4B9B-9FAD-EDFEA50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1623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D46A5-D2A5-41B6-B38E-16334B75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20817"/>
                </a:solidFill>
                <a:latin typeface="Arial"/>
                <a:ea typeface="Arial"/>
                <a:cs typeface="Arial"/>
              </a:rPr>
              <a:t>background /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BC4C5-EECD-46D0-8929-019A7F9F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#FFFFFF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36FE0-A538-417B-A41D-4C93F77C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AFBB9-D4FC-4802-85AF-43BE49FB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5909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7B8F7-DD18-46D5-B297-F7C1CE37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20817"/>
                </a:solidFill>
                <a:latin typeface="Arial"/>
                <a:ea typeface="Arial"/>
                <a:cs typeface="Arial"/>
              </a:rPr>
              <a:t>foreground / 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43237-0AAE-4F1F-8F67-D8FEB15F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5282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#020817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6A040-3290-45BF-9C1B-5D4DB6F5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5393E-6F27-4BE7-9D6F-4454388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95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C3072-4B6A-4DED-9B86-18C84796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20817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7F82C-C7E0-408C-B936-F8201A93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#0F172A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FCA09-C895-4FA5-97A0-64DBD6D4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A3F7E-CC22-4B60-8544-2FD52AB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4481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46FD5-7E29-4DE9-9A6E-A2FD9F58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20817"/>
                </a:solidFill>
                <a:latin typeface="Arial"/>
                <a:ea typeface="Arial"/>
                <a:cs typeface="Arial"/>
              </a:rPr>
              <a:t>secondary / muted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C129F-29E2-44D6-A63B-7CCA25F6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#F1F5F9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B192C-FE86-4484-9F49-5F9A9E7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29210-7D58-4935-8A95-825F021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8768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FA017-7814-4BFA-9858-C99CBE74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20817"/>
                </a:solidFill>
                <a:latin typeface="Arial"/>
                <a:ea typeface="Arial"/>
                <a:cs typeface="Arial"/>
              </a:rPr>
              <a:t>border / 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2D783-DE73-4985-8B19-99D368AC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387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#E2E8F0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E5029-0E16-4296-98EB-F338306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4B5840-0673-4816-BF82-AE8BBA4C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53054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EE5C8D-10A7-4943-92C4-DBC72D0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673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208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20817"/>
                </a:solidFill>
                <a:latin typeface="Arial"/>
                <a:ea typeface="Arial"/>
                <a:cs typeface="Arial"/>
              </a:rPr>
              <a:t>hero accent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39BA11-C390-47C0-A8AB-44DBEA8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6732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020817"/>
                </a:solidFill>
                <a:latin typeface="Courier New"/>
                <a:ea typeface="Courier New"/>
                <a:cs typeface="Courier New"/>
              </a:rPr>
              <a:t>#00AA3E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8D3E1C-FA06-48F8-AC88-BAE2DEBE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133600"/>
            <a:ext cx="53721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0D0D0D"/>
          </a:solidFill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777D85-410B-453C-86CA-B2F71F5D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DARK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F4A587-B706-4E88-961F-939BE53B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2E0FE5-661F-44DC-85E7-3C567619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0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4A3B8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453BC-B56C-402D-A943-FFC9068A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910FA6-E34A-4058-95B2-AA6A1D00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1623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E5DB50-4BD6-4E4A-A5BE-9D058B4E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D090B8-6C9A-4C92-9140-6F4BC51D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242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#0D0D0D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E76E29-AD9F-472D-B710-074B705A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A9F9FE-0978-48D0-98D6-0276D439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5909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ABA59B-547A-4218-92E2-56470A34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D04DBD-E8F1-42D8-A3E0-AED969F0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5282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#141414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FBAD2A-30BA-4443-BBAA-8EBAC384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BA0BA2-5EA4-446C-BCA4-548331DB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0195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DAF3CF-929C-47E1-AA72-38A4ED2C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foreground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A3D9C4-41BA-4477-8E2F-E1002217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814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#F8FAFC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8EAF85-D365-4797-A1E2-C783A587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3387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C7402E-3841-4402-AD7D-92E94E99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4481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5E5459-0A9B-4E0C-BD02-FC140D2E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00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secondary / border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40E00A-F930-4514-8365-1FB0E0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1007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#1E293B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9103B6-A38D-4C38-9F5A-750F9469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53C943-275D-4FEA-9B8E-624E4303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8768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8FBE27-0342-4820-8110-85AECB76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38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2C773D-C262-462A-A915-AC9A2EFE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#313131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728CAA-1077-4716-8516-E1B35958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9112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6CD5D7-4D40-420E-8E8C-CC64EB1E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53054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9CE456-3B0B-4BBF-93B7-74A9910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673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hero accent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418DE4-58C7-4030-9303-CA1DCC2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67325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#00AA3E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49E174-21DB-4783-B47B-6D2DA2AE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INDIGO MONO REMIX  •  COLOUR GUIDELINES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F9A540-8553-4096-A271-AB6672CF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128863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BE50E-F238-434B-9098-15FAACDA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PRE-FLIGHT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4F8F9-619E-40B8-BB71-B2510DD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 it when the signal 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327CB-7520-46A7-83DE-E5C9E59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AA3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AA3E"/>
                </a:solidFill>
                <a:latin typeface="Arial"/>
                <a:ea typeface="Arial"/>
                <a:cs typeface="Arial"/>
              </a:rPr>
              <a:t>unmistakable.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30A91-C561-411C-AD41-D6DD2C65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successful Indigo Mono composition feels quiet until one thing needs attention.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17A7D-778D-4D89-82D2-9AE04E25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31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E5059-CD59-4890-8027-12B4D19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8295C-43DA-4F45-A7AA-ECEB0633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MONOCHROME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153B8-941E-48A5-A1BA-F1379236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Most of the composition is Paper, Ink or Graphite.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3F849-0100-447B-A840-171D80FE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CD24C-9441-4724-A531-3F067279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GREEN FOCUS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AE5E0-959A-4E92-AE8D-0006E14C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Signal identifies the primary action, state or insight.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1C8BD-8047-4DA6-874A-8EA2ABA5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B50D9-5DB1-4DE6-B5D0-38A7BA75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CONTRAST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0C2F3-D0CC-4F53-8662-27957AC5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Normal text reaches 4.5:1; display accents reach 3:1.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1B07E-F5E7-47B5-8D89-D34F3C4F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A3E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0AA3E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DD932-F975-4854-92B9-6FC35A1A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67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TOKENS PRESERVED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B9E62-A0A4-43BB-8E40-99EC7D39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Light and dark modes use semantic roles consistently.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24DA3-6A3A-49A7-966C-A93E91C6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4389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B477D-BB16-40EB-9D9F-1B246938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64389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09F8F-4A1C-448E-8E90-6F111BBB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6438900"/>
            <a:ext cx="2238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5461C-46E9-459E-A9F6-8ACD1C66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64389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0CC0F-B3DC-4830-AA3D-23A13CE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875" y="6438900"/>
            <a:ext cx="2143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3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0281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2026-07-16T10:38:29.6060000Z</dcterms:created>
  <dcterms:modified xsi:type="dcterms:W3CDTF">2026-07-16T10:38:29.6060000Z</dcterms:modified>
</coreProperties>
</file>